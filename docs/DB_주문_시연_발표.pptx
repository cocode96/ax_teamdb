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3c7b4ded8e94612" /><Relationship Type="http://schemas.openxmlformats.org/officeDocument/2006/relationships/extended-properties" Target="/docProps/app.xml" Id="Rffdcb4d4425843a9" /><Relationship Type="http://schemas.openxmlformats.org/officeDocument/2006/relationships/officeDocument" Target="/ppt/presentation.xml" Id="Rd5b6c1a3e8ab4a5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3b353f9e8574a46"/>
  </p:sldMasterIdLst>
  <p:notesMasterIdLst>
    <p:notesMasterId xmlns:r="http://schemas.openxmlformats.org/officeDocument/2006/relationships" r:id="R56410531d4a84a96"/>
  </p:notesMasterIdLst>
  <p:sldIdLst>
    <p:sldId xmlns:r="http://schemas.openxmlformats.org/officeDocument/2006/relationships" id="256" r:id="R0411a1242a5e4d48"/>
    <p:sldId xmlns:r="http://schemas.openxmlformats.org/officeDocument/2006/relationships" id="257" r:id="R982414abd9d449dc"/>
    <p:sldId xmlns:r="http://schemas.openxmlformats.org/officeDocument/2006/relationships" id="258" r:id="R5dd633ebfd2348d4"/>
    <p:sldId xmlns:r="http://schemas.openxmlformats.org/officeDocument/2006/relationships" id="259" r:id="Rcc508755e2304df5"/>
    <p:sldId xmlns:r="http://schemas.openxmlformats.org/officeDocument/2006/relationships" id="260" r:id="R1aa07e3f405c48d7"/>
    <p:sldId xmlns:r="http://schemas.openxmlformats.org/officeDocument/2006/relationships" id="261" r:id="R8239ab6518594e64"/>
    <p:sldId xmlns:r="http://schemas.openxmlformats.org/officeDocument/2006/relationships" id="262" r:id="R602d06d53aed46bd"/>
    <p:sldId xmlns:r="http://schemas.openxmlformats.org/officeDocument/2006/relationships" id="263" r:id="R77d26c0ec1454d88"/>
    <p:sldId xmlns:r="http://schemas.openxmlformats.org/officeDocument/2006/relationships" id="264" r:id="R0237bc04989140dd"/>
    <p:sldId xmlns:r="http://schemas.openxmlformats.org/officeDocument/2006/relationships" id="265" r:id="R2b911f52ee274807"/>
    <p:sldId xmlns:r="http://schemas.openxmlformats.org/officeDocument/2006/relationships" id="266" r:id="Rd9f474a25e95478c"/>
    <p:sldId xmlns:r="http://schemas.openxmlformats.org/officeDocument/2006/relationships" id="267" r:id="R796bb9de978541b6"/>
    <p:sldId xmlns:r="http://schemas.openxmlformats.org/officeDocument/2006/relationships" id="268" r:id="R1f4037f6f57c49a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98967bc64384d71" /><Relationship Type="http://schemas.openxmlformats.org/officeDocument/2006/relationships/slideMaster" Target="/ppt/slideMasters/slideMaster1.xml" Id="R33b353f9e8574a46" /><Relationship Type="http://schemas.openxmlformats.org/officeDocument/2006/relationships/notesMaster" Target="/ppt/notesMasters/notesMaster1.xml" Id="R56410531d4a84a96" /><Relationship Type="http://schemas.openxmlformats.org/officeDocument/2006/relationships/presProps" Target="/ppt/presProps.xml" Id="R3ccbcd3eb22a4ad0" /><Relationship Type="http://schemas.openxmlformats.org/officeDocument/2006/relationships/tableStyles" Target="/ppt/tableStyles.xml" Id="R2cb5adbfab734cb3" /><Relationship Type="http://schemas.openxmlformats.org/officeDocument/2006/relationships/slide" Target="/ppt/slides/slide1.xml" Id="R0411a1242a5e4d48" /><Relationship Type="http://schemas.openxmlformats.org/officeDocument/2006/relationships/slide" Target="/ppt/slides/slide2.xml" Id="R982414abd9d449dc" /><Relationship Type="http://schemas.openxmlformats.org/officeDocument/2006/relationships/slide" Target="/ppt/slides/slide3.xml" Id="R5dd633ebfd2348d4" /><Relationship Type="http://schemas.openxmlformats.org/officeDocument/2006/relationships/slide" Target="/ppt/slides/slide4.xml" Id="Rcc508755e2304df5" /><Relationship Type="http://schemas.openxmlformats.org/officeDocument/2006/relationships/slide" Target="/ppt/slides/slide5.xml" Id="R1aa07e3f405c48d7" /><Relationship Type="http://schemas.openxmlformats.org/officeDocument/2006/relationships/slide" Target="/ppt/slides/slide6.xml" Id="R8239ab6518594e64" /><Relationship Type="http://schemas.openxmlformats.org/officeDocument/2006/relationships/slide" Target="/ppt/slides/slide7.xml" Id="R602d06d53aed46bd" /><Relationship Type="http://schemas.openxmlformats.org/officeDocument/2006/relationships/slide" Target="/ppt/slides/slide8.xml" Id="R77d26c0ec1454d88" /><Relationship Type="http://schemas.openxmlformats.org/officeDocument/2006/relationships/slide" Target="/ppt/slides/slide9.xml" Id="R0237bc04989140dd" /><Relationship Type="http://schemas.openxmlformats.org/officeDocument/2006/relationships/slide" Target="/ppt/slides/slide10.xml" Id="R2b911f52ee274807" /><Relationship Type="http://schemas.openxmlformats.org/officeDocument/2006/relationships/slide" Target="/ppt/slides/slide11.xml" Id="Rd9f474a25e95478c" /><Relationship Type="http://schemas.openxmlformats.org/officeDocument/2006/relationships/slide" Target="/ppt/slides/slide12.xml" Id="R796bb9de978541b6" /><Relationship Type="http://schemas.openxmlformats.org/officeDocument/2006/relationships/slide" Target="/ppt/slides/slide13.xml" Id="R1f4037f6f57c49a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befee8bb3184d1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93078cae9554dde" /><Relationship Type="http://schemas.openxmlformats.org/officeDocument/2006/relationships/notesMaster" Target="/ppt/notesMasters/notesMaster1.xml" Id="R7a540b3e58814b7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61826f751434604" /><Relationship Type="http://schemas.openxmlformats.org/officeDocument/2006/relationships/notesMaster" Target="/ppt/notesMasters/notesMaster1.xml" Id="R4c3a6824668e44e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cc04eb1ecb64ff5" /><Relationship Type="http://schemas.openxmlformats.org/officeDocument/2006/relationships/notesMaster" Target="/ppt/notesMasters/notesMaster1.xml" Id="R6d170aada0f3487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6bee8ea392448d7" /><Relationship Type="http://schemas.openxmlformats.org/officeDocument/2006/relationships/notesMaster" Target="/ppt/notesMasters/notesMaster1.xml" Id="R35882c45997044e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628ef2238ff49da" /><Relationship Type="http://schemas.openxmlformats.org/officeDocument/2006/relationships/notesMaster" Target="/ppt/notesMasters/notesMaster1.xml" Id="Rf44046ad4cc94cf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acc88ec22964e65" /><Relationship Type="http://schemas.openxmlformats.org/officeDocument/2006/relationships/notesMaster" Target="/ppt/notesMasters/notesMaster1.xml" Id="R45cd909ca17745b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25dc261e9fe4060" /><Relationship Type="http://schemas.openxmlformats.org/officeDocument/2006/relationships/notesMaster" Target="/ppt/notesMasters/notesMaster1.xml" Id="Rc4c19acdfc50420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befcb2327c74a6f" /><Relationship Type="http://schemas.openxmlformats.org/officeDocument/2006/relationships/notesMaster" Target="/ppt/notesMasters/notesMaster1.xml" Id="R5e444d9ff3994e3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7f5236a6d474b18" /><Relationship Type="http://schemas.openxmlformats.org/officeDocument/2006/relationships/notesMaster" Target="/ppt/notesMasters/notesMaster1.xml" Id="R7aed25f49240496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5b205be00444f2a" /><Relationship Type="http://schemas.openxmlformats.org/officeDocument/2006/relationships/notesMaster" Target="/ppt/notesMasters/notesMaster1.xml" Id="R975dd3c9b6cb4c0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ce64414563940a8" /><Relationship Type="http://schemas.openxmlformats.org/officeDocument/2006/relationships/notesMaster" Target="/ppt/notesMasters/notesMaster1.xml" Id="R651a4d5a5b16472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b07f38c8ed44b6e" /><Relationship Type="http://schemas.openxmlformats.org/officeDocument/2006/relationships/notesMaster" Target="/ppt/notesMasters/notesMaster1.xml" Id="R3ddf9e37c344465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346022067434092" /><Relationship Type="http://schemas.openxmlformats.org/officeDocument/2006/relationships/notesMaster" Target="/ppt/notesMasters/notesMaster1.xml" Id="Rffe6e8755c7d4b1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오늘 발표는 복잡한 서비스 구현보다 데이터가 어떻게 연결되고 조회되는지에 초점을 맞춥니다. 로그인하고 머그컵을 주문한 뒤 배송중으로 바꾸겠습니다. 같은 데이터를 관리자 관점에서 집계, 조인, 집합, 서브쿼리로 읽고 트랜잭션과 SDK를 설명하겠습니다.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근거: AX_TeamDB/ex.ipynb. 도식: 사용자가 제공한 image (3).png. 숫자는 별도 표기가 없는 한 실습 조건 설명이며 실제 운영 통계가 아닙니다.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ex.ipynb의 코드 셀 하나가 화면의 버튼 하나 역할을 합니다. 준비 셀은 기존 클래스를 불러옵니다. 로그인은 미리 만든 계정을 사용합니다. 상품을 조회해서 없으면 등록하고 주문을 만든 뒤 주문상품으로 연결합니다. 배송중 상태는 상품 테이블이 아닌 주문 테이블을 수정합니다. 각 코드 셀 바로 아래 설명을 읽으며 진행합니다.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근거: AX_TeamDB/ex.ipynb. 도식: 사용자가 제공한 image (3).png. 숫자는 별도 표기가 없는 한 실습 조건 설명이며 실제 운영 통계가 아닙니다.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사진을 그대로 보여주면 테이블 관계 설명 자료로 충분합니다. 먼저 주문과 주문상품 사이의 order_id를 가리키고, 다음으로 주문상품과 상품 사이의 product_id를 가리킵니다. 각각 1:N 관계이며 두 관계를 합쳐 주문과 상품의 N:M을 표현합니다. 회원 상세정보는 회원당 최대 한 행이며 자동 생성 여부는 별도입니다. 그림의 password text는 개념적 표기이며 Supabase Auth가 비밀번호 인증을 관리합니다. 출처: 사용자 제공 image (3).png.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주문 전체의 정보는 orders에 한 번 저장합니다. 그 주문 안에 담긴 상품은 order_items에 저장합니다. order_items.order_id가 어떤 주문인지, product_id가 어떤 상품인지 나타냅니다. item_price와 quantity를 저장해서 당시 구매 금액을 남깁니다. 이 설계에서는 FK만으로 회원이 SELLER 유형인지까지 검사하지는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근거: AX_TeamDB/ex.ipynb. 도식: 사용자가 제공한 image (3).png. 숫자는 별도 표기가 없는 한 실습 조건 설명이며 실제 운영 통계가 아닙니다.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먼저 관리자 조회 셀에서 삭제되지 않은 데이터를 읽습니다. 집계 셀을 실행하면 상태별 건수와 금액을 출력합니다. 표의 숫자는 신규 주문 한 건만 있다고 가정한 예시입니다. 12000원 상품을 두 개 샀으므로 주문 금액이 24000원입니다. COUNT는 행 수이고 금액 집계는 NULL을 제외합니다. 노트북에서는 Python으로 집계하고 아래 SQL은 DB 집계함수로 같은 의미를 설명합니다. 주문 금액 합계와 결제 완료 매출은 구분합니다.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근거: AX_TeamDB/ex.ipynb. 도식: 사용자가 제공한 image (3).png. 숫자는 별도 표기가 없는 한 실습 조건 설명이며 실제 운영 통계가 아닙니다.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관리자 주문 상세 화면을 만든다고 생각하면 쉽습니다. orders에는 주문번호와 배송 상태, order_items에는 구매 수량과 주문 당시 가격, products에는 현재 상품명이 있습니다. FK 관계를 따라 연결하면 한 화면에서 볼 수 있습니다. SDK는 중첩 리스트와 딕셔너리로 반환하므로 두 번의 반복문으로 출력합니다. 기본 관계 조회는 부모를 유지하며 INNER JOIN과 똑같은 응답 구조는 아닙니다. 노트북 바로 아래 SQL과 함께 설명합니다.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근거: AX_TeamDB/ex.ipynb. 도식: 사용자가 제공한 image (3).png. 숫자는 별도 표기가 없는 한 실습 조건 설명이며 실제 운영 통계가 아닙니다.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등록 상품 ID를 A, 주문상품에 등장하는 상품 ID를 B로 생각합니다. UNION은 두 목록에 있는 상품 ID를 합치고 중복을 제거합니다. UNION ALL은 중복을 남깁니다. INTERSECT는 등록돼 있으면서 주문된 상품입니다. EXCEPT는 등록은 됐지만 주문상품 기록에는 없는 상품입니다. 위 SDK 조회 결과를 Python set과 리스트로 비교한 뒤 같은 의미의 SQL을 설명합니다.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근거: AX_TeamDB/ex.ipynb. 도식: 사용자가 제공한 image (3).png. 숫자는 별도 표기가 없는 한 실습 조건 설명이며 실제 운영 통계가 아닙니다.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서브쿼리는 다른 SQL 안에 들어가는 조회입니다. 이 예제는 안쪽에서 평균 가격을 구하고 바깥에서 그보다 비싼 상품을 찾습니다. 평균은 값 하나이므로 스칼라 서브쿼리이며 바깥 행을 참조하지 않으므로 비상관 서브쿼리이기도 합니다. 노트북은 이 계산 순서를 Python으로 풀어 보여줍니다. 상품이 하나뿐이면 평균보다 비싼 상품이 없는 것이 정상입니다.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근거: AX_TeamDB/ex.ipynb. 도식: 사용자가 제공한 image (3).png. 숫자는 별도 표기가 없는 한 실습 조건 설명이며 실제 운영 통계가 아닙니다.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 예제에서는 주문상품 테이블에서 여러 상품 ID를 가져와 바깥의 상품 ID와 비교합니다. EXISTS 예제는 현재 바깥 상품의 p.id와 같은 주문상품이 있는지 확인합니다. 안쪽에서 p.id를 참조하므로 상관 서브쿼리입니다. IN과 EXISTS는 이 예제에서 주문된 상품을 찾는 같은 목적을 다른 식으로 표현합니다. 상관 서브쿼리를 DB가 반드시 행마다 순차 실행한다고 설명할 필요는 없습니다.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근거: AX_TeamDB/ex.ipynb. 도식: 사용자가 제공한 image (3).png. 숫자는 별도 표기가 없는 한 실습 조건 설명이며 실제 운영 통계가 아닙니다.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트랜잭션 셀은 실제 주문 ID가 들어간 SQL을 출력합니다. 출력 전체를 SQL Editor에 복사해서 실행합니다. BEGIN 후 배송완료로 바꾸고 조회하면 DELIVERED가 됩니다. ROLLBACK 뒤 최종 조회에서는 이전 배송중 상태가 남습니다. COMMIT은 확정이고 ROLLBACK은 취소입니다. 앞의 주문과 주문상품 저장은 두 API 요청이라 하나의 트랜잭션이 아니라는 점을 꼭 말합니다.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근거: AX_TeamDB/ex.ipynb. 도식: 사용자가 제공한 image (3).png. 숫자는 별도 표기가 없는 한 실습 조건 설명이며 실제 운영 통계가 아닙니다.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SDK는 서비스를 코드에서 쓰게 해 주는 도구입니다. table과 select는 대상 테이블과 읽을 컬럼을 고르고 eq는 조건을 붙입니다. execute를 호출할 때 요청을 보냅니다. 점으로 이어 쓰는 이 문법은 메서드 체이닝입니다. LangChain은 LLM과 도구 등을 연결하는 별도의 프레임워크이므로 이 코드와 명칭을 구분합니다. 출처: https://docs.langchain.com/oss/python/langchain/overview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근거: AX_TeamDB/ex.ipynb. 도식: 사용자가 제공한 image (3).png. 숫자는 별도 표기가 없는 한 실습 조건 설명이며 실제 운영 통계가 아닙니다.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마지막 셀을 실행해 True를 보여주면 됩니다. is는 값이 같은지가 아니라 동일 객체인지를 확인합니다. 설치된 SDK에서 eq는 filter를 반환하고 filter는 조건을 저장한 뒤 self를 반환합니다. 그래서 같은 객체에 조건을 계속 붙일 수 있습니다. table이나 select까지 모두 같은 self를 반환한다는 뜻은 아닙니다. execute는 실제 응답 객체를 반환합니다. 근거: .venv/Lib/site-packages/postgrest/base_request_builder.py의 eq와 filter 구현.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근거: AX_TeamDB/ex.ipynb. 도식: 사용자가 제공한 image (3).png. 숫자는 별도 표기가 없는 한 실습 조건 설명이며 실제 운영 통계가 아닙니다.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마지막으로 노트북과 Supabase 화면을 번갈아 보여줍니다. 로그인부터 배송중 수정까지 실행하며 FK와 상태를 확인합니다. 관리자 집계, 조인, 집합을 실행합니다. 세 서브쿼리 예제의 결과를 보고 SQL 의미를 설명합니다. 트랜잭션 SQL은 별도 Editor에서 실행합니다. 마지막으로 self 동일성 True를 보여줍니다. 실제 행 수는 현재 DB에 따라 달라지며 빈 결과도 설명한 조건에서는 정상입니다.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근거: AX_TeamDB/ex.ipynb. 도식: 사용자가 제공한 image (3).png. 숫자는 별도 표기가 없는 한 실습 조건 설명이며 실제 운영 통계가 아닙니다.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3cf036181340e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4f172b53a5a4bae" /><Relationship Type="http://schemas.openxmlformats.org/officeDocument/2006/relationships/slideLayout" Target="/ppt/slideLayouts/slideLayout1.xml" Id="Rad634e3abfda43a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d634e3abfda43a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8439f2cbd34458" /><Relationship Type="http://schemas.openxmlformats.org/officeDocument/2006/relationships/image" Target="/ppt/media/image.png" Id="Rcbca8e908ae84946" /><Relationship Type="http://schemas.openxmlformats.org/officeDocument/2006/relationships/notesSlide" Target="/ppt/notesSlides/notesSlide1.xml" Id="R97c49ce2fdf24b8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cc443f452e4b16" /><Relationship Type="http://schemas.openxmlformats.org/officeDocument/2006/relationships/notesSlide" Target="/ppt/notesSlides/notesSlide2.xml" Id="R83957bf334d44bd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a358df2a7e46bb" /><Relationship Type="http://schemas.openxmlformats.org/officeDocument/2006/relationships/image" Target="/ppt/media/image2.png" Id="R04c9311348ac48a9" /><Relationship Type="http://schemas.openxmlformats.org/officeDocument/2006/relationships/notesSlide" Target="/ppt/notesSlides/notesSlide3.xml" Id="R0564af77b4cf476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f3735275514200" /><Relationship Type="http://schemas.openxmlformats.org/officeDocument/2006/relationships/notesSlide" Target="/ppt/notesSlides/notesSlide4.xml" Id="R8198378847ca4de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5dbf9401b74555" /><Relationship Type="http://schemas.openxmlformats.org/officeDocument/2006/relationships/notesSlide" Target="/ppt/notesSlides/notesSlide5.xml" Id="R1559380999a0492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4f7b5d2ba940ec" /><Relationship Type="http://schemas.openxmlformats.org/officeDocument/2006/relationships/notesSlide" Target="/ppt/notesSlides/notesSlide6.xml" Id="R49f0889cdcf141f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4dbee6fd2e4cc4" /><Relationship Type="http://schemas.openxmlformats.org/officeDocument/2006/relationships/notesSlide" Target="/ppt/notesSlides/notesSlide7.xml" Id="R407c4da7426e4d8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0aae5efa0547de" /><Relationship Type="http://schemas.openxmlformats.org/officeDocument/2006/relationships/notesSlide" Target="/ppt/notesSlides/notesSlide8.xml" Id="R6d2a94e2042c451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27196870814c96" /><Relationship Type="http://schemas.openxmlformats.org/officeDocument/2006/relationships/notesSlide" Target="/ppt/notesSlides/notesSlide9.xml" Id="R7ff76176c5b8451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5bd21ddc24413a" /><Relationship Type="http://schemas.openxmlformats.org/officeDocument/2006/relationships/notesSlide" Target="/ppt/notesSlides/notesSlide10.xml" Id="R14d7b612037344b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eec177c9f84674" /><Relationship Type="http://schemas.openxmlformats.org/officeDocument/2006/relationships/notesSlide" Target="/ppt/notesSlides/notesSlide11.xml" Id="R76ec9885c9b5486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38d548fe0f4b72" /><Relationship Type="http://schemas.openxmlformats.org/officeDocument/2006/relationships/notesSlide" Target="/ppt/notesSlides/notesSlide12.xml" Id="R3dc495b88cae41a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be026d7e0d4954" /><Relationship Type="http://schemas.openxmlformats.org/officeDocument/2006/relationships/notesSlide" Target="/ppt/notesSlides/notesSlide13.xml" Id="R84098c23ee7144f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oeiovm-64-27">
            <a:extLst xmlns:a="http://schemas.openxmlformats.org/drawingml/2006/main">
              <a:ext uri="{FF2B5EF4-FFF2-40B4-BE49-F238E27FC236}">
                <a16:creationId xmlns:a16="http://schemas.microsoft.com/office/drawing/2014/main" id="{677B5592-F8B3-4981-91C7-9609AF834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rPr>
              <a:t>DATABASE  /  LIVE DEMO</a:t>
            </a:r>
          </a:p>
        </p:txBody>
      </p:sp>
      <p:sp>
        <p:nvSpPr>
          <p:cNvPr id="2" name="text-oeiovm-64-78">
            <a:extLst xmlns:a="http://schemas.openxmlformats.org/drawingml/2006/main">
              <a:ext uri="{FF2B5EF4-FFF2-40B4-BE49-F238E27FC236}">
                <a16:creationId xmlns:a16="http://schemas.microsoft.com/office/drawing/2014/main" id="{036D2CE1-EAF8-497A-A5EE-F37C259AE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상품 주문 하나로 보는 DB 핵심 6가지</a:t>
            </a:r>
          </a:p>
        </p:txBody>
      </p:sp>
      <p:sp>
        <p:nvSpPr>
          <p:cNvPr id="3" name="text-oeiovm-64-670">
            <a:extLst xmlns:a="http://schemas.openxmlformats.org/drawingml/2006/main">
              <a:ext uri="{FF2B5EF4-FFF2-40B4-BE49-F238E27FC236}">
                <a16:creationId xmlns:a16="http://schemas.microsoft.com/office/drawing/2014/main" id="{1A38D89D-02BF-4E5B-8E7E-49CF06BC3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267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775"/>
                </a:solidFill>
                <a:latin typeface="Malgun Gothic"/>
                <a:ea typeface="Malgun Gothic"/>
                <a:cs typeface="Malgun Gothic"/>
              </a:rPr>
              <a:t>AX_TeamDB  /  ex.ipynb</a:t>
            </a:r>
          </a:p>
        </p:txBody>
      </p:sp>
      <p:sp>
        <p:nvSpPr>
          <p:cNvPr id="4" name="text-oeiovm-1170-665">
            <a:extLst xmlns:a="http://schemas.openxmlformats.org/drawingml/2006/main">
              <a:ext uri="{FF2B5EF4-FFF2-40B4-BE49-F238E27FC236}">
                <a16:creationId xmlns:a16="http://schemas.microsoft.com/office/drawing/2014/main" id="{AFC19A06-261F-45A0-9B2F-253D1C5DA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5" name="text-oeiovm-64-285">
            <a:extLst xmlns:a="http://schemas.openxmlformats.org/drawingml/2006/main">
              <a:ext uri="{FF2B5EF4-FFF2-40B4-BE49-F238E27FC236}">
                <a16:creationId xmlns:a16="http://schemas.microsoft.com/office/drawing/2014/main" id="{A31A63D1-4719-43F1-B1D9-1400EDBD5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600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rPr>
              <a:t>로그인 → 주문 → 배송 → 관리자 조회</a:t>
            </a:r>
          </a:p>
        </p:txBody>
      </p:sp>
      <p:sp>
        <p:nvSpPr>
          <p:cNvPr id="6" name="text-oeiovm-64-395">
            <a:extLst xmlns:a="http://schemas.openxmlformats.org/drawingml/2006/main">
              <a:ext uri="{FF2B5EF4-FFF2-40B4-BE49-F238E27FC236}">
                <a16:creationId xmlns:a16="http://schemas.microsoft.com/office/drawing/2014/main" id="{ABDB0D93-7ADA-4405-8976-F3DBEFBD9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2375"/>
            <a:ext cx="6096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26775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526775"/>
                </a:solidFill>
                <a:latin typeface="Malgun Gothic"/>
                <a:ea typeface="Malgun Gothic"/>
                <a:cs typeface="Malgun Gothic"/>
              </a:rPr>
              <a:t>테이블 관계 / 집계 / 집합과 JOIN</a:t>
            </a:r>
          </a:p>
          <a:p xmlns:a="http://schemas.openxmlformats.org/drawingml/2006/main">
            <a:pPr>
              <a:buNone/>
              <a:defRPr sz="1950" b="0">
                <a:solidFill>
                  <a:srgbClr val="526775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526775"/>
                </a:solidFill>
                <a:latin typeface="Malgun Gothic"/>
                <a:ea typeface="Malgun Gothic"/>
                <a:cs typeface="Malgun Gothic"/>
              </a:rPr>
              <a:t>서브쿼리 / TCL과 ACID / SDK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ca8e908ae84946"/>
          <a:stretch xmlns:a="http://schemas.openxmlformats.org/drawingml/2006/main"/>
        </p:blipFill>
        <p:spPr>
          <a:xfrm xmlns:a="http://schemas.openxmlformats.org/drawingml/2006/main">
            <a:off x="6958013" y="2762250"/>
            <a:ext cx="4514850" cy="3009900"/>
          </a:xfrm>
          <a:prstGeom xmlns:a="http://schemas.openxmlformats.org/drawingml/2006/main" prst="rect">
            <a:avLst/>
          </a:prstGeom>
        </p:spPr>
      </p:pic>
      <p:sp>
        <p:nvSpPr>
          <p:cNvPr id="8" name="text-oeiovm-64-578">
            <a:extLst xmlns:a="http://schemas.openxmlformats.org/drawingml/2006/main">
              <a:ext uri="{FF2B5EF4-FFF2-40B4-BE49-F238E27FC236}">
                <a16:creationId xmlns:a16="http://schemas.microsoft.com/office/drawing/2014/main" id="{E810DDE8-F286-4986-8A8E-A48371C4A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05450"/>
            <a:ext cx="619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3조</a:t>
            </a:r>
            <a:r>
              <a:rPr sz="1725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  |  코드 실행 후 설명하는 발표</a:t>
            </a:r>
          </a:p>
        </p:txBody>
      </p:sp>
    </p:spTree>
    <p:extLst>
      <p:ext uri="{BB962C8B-B14F-4D97-AF65-F5344CB8AC3E}">
        <p14:creationId xmlns:p14="http://schemas.microsoft.com/office/powerpoint/2010/main" val="204868834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6o57vc-64-27">
            <a:extLst xmlns:a="http://schemas.openxmlformats.org/drawingml/2006/main">
              <a:ext uri="{FF2B5EF4-FFF2-40B4-BE49-F238E27FC236}">
                <a16:creationId xmlns:a16="http://schemas.microsoft.com/office/drawing/2014/main" id="{4C5FCC01-7D0F-4064-AFE7-A75F82730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rPr>
              <a:t>DEMO FLOW</a:t>
            </a:r>
          </a:p>
        </p:txBody>
      </p:sp>
      <p:sp>
        <p:nvSpPr>
          <p:cNvPr id="2" name="text-6o57vc-64-78">
            <a:extLst xmlns:a="http://schemas.openxmlformats.org/drawingml/2006/main">
              <a:ext uri="{FF2B5EF4-FFF2-40B4-BE49-F238E27FC236}">
                <a16:creationId xmlns:a16="http://schemas.microsoft.com/office/drawing/2014/main" id="{D813065C-243A-463C-AEE1-CFE53743A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노트북을 프론트 화면처럼 실행한다</a:t>
            </a:r>
          </a:p>
        </p:txBody>
      </p:sp>
      <p:sp>
        <p:nvSpPr>
          <p:cNvPr id="3" name="text-6o57vc-64-670">
            <a:extLst xmlns:a="http://schemas.openxmlformats.org/drawingml/2006/main">
              <a:ext uri="{FF2B5EF4-FFF2-40B4-BE49-F238E27FC236}">
                <a16:creationId xmlns:a16="http://schemas.microsoft.com/office/drawing/2014/main" id="{EECEF956-A14D-4AF7-9FB0-301154BF0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267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775"/>
                </a:solidFill>
                <a:latin typeface="Malgun Gothic"/>
                <a:ea typeface="Malgun Gothic"/>
                <a:cs typeface="Malgun Gothic"/>
              </a:rPr>
              <a:t>AX_TeamDB  /  ex.ipynb</a:t>
            </a:r>
          </a:p>
        </p:txBody>
      </p:sp>
      <p:sp>
        <p:nvSpPr>
          <p:cNvPr id="4" name="text-6o57vc-1170-665">
            <a:extLst xmlns:a="http://schemas.openxmlformats.org/drawingml/2006/main">
              <a:ext uri="{FF2B5EF4-FFF2-40B4-BE49-F238E27FC236}">
                <a16:creationId xmlns:a16="http://schemas.microsoft.com/office/drawing/2014/main" id="{F60BFA7B-9DB6-43EE-9CD1-D511754E0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3314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90750"/>
                <a:gridCol w="3286125"/>
                <a:gridCol w="5495925"/>
              </a:tblGrid>
              <a:tr h="66294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실행 단계</a:t>
                      </a:r>
                    </a:p>
                  </a:txBody>
                  <a:tcPr marL="91440" marR="91440" marT="45720" marB="45720">
                    <a:solidFill>
                      <a:srgbClr val="126C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화면에서 하는 일</a:t>
                      </a:r>
                    </a:p>
                  </a:txBody>
                  <a:tcPr marL="91440" marR="91440" marT="45720" marB="45720">
                    <a:solidFill>
                      <a:srgbClr val="126C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DB에서 확인할 것</a:t>
                      </a:r>
                    </a:p>
                  </a:txBody>
                  <a:tcPr marL="91440" marR="91440" marT="45720" marB="45720">
                    <a:solidFill>
                      <a:srgbClr val="126C70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로그인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이메일과 비밀번호 입력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로그인한 회원 ID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상품 확인 / 등록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상품 선택 또는 등록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products.id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주문 / 연결 확인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주문하기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orders.id = order_items.order_id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배송중 수정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배송 시작 처리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ORDER → ON_DELIVERY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-6o57vc-64-568">
            <a:extLst xmlns:a="http://schemas.openxmlformats.org/drawingml/2006/main">
              <a:ext uri="{FF2B5EF4-FFF2-40B4-BE49-F238E27FC236}">
                <a16:creationId xmlns:a16="http://schemas.microsoft.com/office/drawing/2014/main" id="{778BCAFD-03EE-4658-B567-30C5438E8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rPr>
              <a:t>준비: Auth 계정 + 같은 ID의 user_details 행</a:t>
            </a:r>
          </a:p>
        </p:txBody>
      </p:sp>
    </p:spTree>
    <p:extLst>
      <p:ext uri="{BB962C8B-B14F-4D97-AF65-F5344CB8AC3E}">
        <p14:creationId xmlns:p14="http://schemas.microsoft.com/office/powerpoint/2010/main" val="118679039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-03otls-38-14">
            <a:extLst xmlns:a="http://schemas.openxmlformats.org/drawingml/2006/main">
              <a:ext uri="{FF2B5EF4-FFF2-40B4-BE49-F238E27FC236}">
                <a16:creationId xmlns:a16="http://schemas.microsoft.com/office/drawing/2014/main" id="{65C07503-5883-4E39-9261-43B4B7852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33350"/>
            <a:ext cx="809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1. 테이블 관계 표현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c9311348ac48a9"/>
          <a:stretch xmlns:a="http://schemas.openxmlformats.org/drawingml/2006/main"/>
        </p:blipFill>
        <p:spPr>
          <a:xfrm xmlns:a="http://schemas.openxmlformats.org/drawingml/2006/main">
            <a:off x="1695450" y="590550"/>
            <a:ext cx="8801100" cy="5867400"/>
          </a:xfrm>
          <a:prstGeom xmlns:a="http://schemas.openxmlformats.org/drawingml/2006/main" prst="rect">
            <a:avLst/>
          </a:prstGeom>
        </p:spPr>
      </p:pic>
      <p:sp>
        <p:nvSpPr>
          <p:cNvPr id="3" name="text-03otls-1170-666">
            <a:extLst xmlns:a="http://schemas.openxmlformats.org/drawingml/2006/main">
              <a:ext uri="{FF2B5EF4-FFF2-40B4-BE49-F238E27FC236}">
                <a16:creationId xmlns:a16="http://schemas.microsoft.com/office/drawing/2014/main" id="{9D324227-0C82-4FBC-8EE2-D2A5BE094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77925060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wn7gcr-64-27">
            <a:extLst xmlns:a="http://schemas.openxmlformats.org/drawingml/2006/main">
              <a:ext uri="{FF2B5EF4-FFF2-40B4-BE49-F238E27FC236}">
                <a16:creationId xmlns:a16="http://schemas.microsoft.com/office/drawing/2014/main" id="{C72411C6-ACA0-4070-9B6D-08E012481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rPr>
              <a:t>1. TABLE RELATIONSHIPS</a:t>
            </a:r>
          </a:p>
        </p:txBody>
      </p:sp>
      <p:sp>
        <p:nvSpPr>
          <p:cNvPr id="2" name="text-wn7gcr-64-78">
            <a:extLst xmlns:a="http://schemas.openxmlformats.org/drawingml/2006/main">
              <a:ext uri="{FF2B5EF4-FFF2-40B4-BE49-F238E27FC236}">
                <a16:creationId xmlns:a16="http://schemas.microsoft.com/office/drawing/2014/main" id="{F7416EB3-CD04-4D74-9E5E-E09555786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주문상품이 주문과 상품을 연결한다</a:t>
            </a:r>
          </a:p>
        </p:txBody>
      </p:sp>
      <p:sp>
        <p:nvSpPr>
          <p:cNvPr id="3" name="text-wn7gcr-64-670">
            <a:extLst xmlns:a="http://schemas.openxmlformats.org/drawingml/2006/main">
              <a:ext uri="{FF2B5EF4-FFF2-40B4-BE49-F238E27FC236}">
                <a16:creationId xmlns:a16="http://schemas.microsoft.com/office/drawing/2014/main" id="{CF08F949-C16D-4BF5-8FEE-6FB46FA32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267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775"/>
                </a:solidFill>
                <a:latin typeface="Malgun Gothic"/>
                <a:ea typeface="Malgun Gothic"/>
                <a:cs typeface="Malgun Gothic"/>
              </a:rPr>
              <a:t>AX_TeamDB  /  ex.ipynb</a:t>
            </a:r>
          </a:p>
        </p:txBody>
      </p:sp>
      <p:sp>
        <p:nvSpPr>
          <p:cNvPr id="4" name="text-wn7gcr-1170-665">
            <a:extLst xmlns:a="http://schemas.openxmlformats.org/drawingml/2006/main">
              <a:ext uri="{FF2B5EF4-FFF2-40B4-BE49-F238E27FC236}">
                <a16:creationId xmlns:a16="http://schemas.microsoft.com/office/drawing/2014/main" id="{D95DCDA9-907E-4695-94D3-4EAD57961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14750"/>
                <a:gridCol w="1619250"/>
                <a:gridCol w="5638800"/>
              </a:tblGrid>
              <a:tr h="61912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연결</a:t>
                      </a:r>
                    </a:p>
                  </a:txBody>
                  <a:tcPr marL="91440" marR="91440" marT="45720" marB="45720">
                    <a:solidFill>
                      <a:srgbClr val="126C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관계</a:t>
                      </a:r>
                    </a:p>
                  </a:txBody>
                  <a:tcPr marL="91440" marR="91440" marT="45720" marB="45720">
                    <a:solidFill>
                      <a:srgbClr val="126C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한 문장 설명</a:t>
                      </a:r>
                    </a:p>
                  </a:txBody>
                  <a:tcPr marL="91440" marR="91440" marT="45720" marB="45720">
                    <a:solidFill>
                      <a:srgbClr val="126C70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auth.users → user_details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 : 최대 1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계정당 상세정보는 최대 한 행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회원 → orders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 : 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회원 한 명이 여러 번 주문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user_details → products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 : N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판매자 한 명이 여러 상품 등록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orders → order_items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 : 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주문 하나에 여러 상품 항목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products → order_items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 : N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상품 하나가 여러 주문에 포함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</a:tr>
            </a:tbl>
          </a:graphicData>
        </a:graphic>
      </p:graphicFrame>
      <p:sp>
        <p:nvSpPr>
          <p:cNvPr id="6" name="text-wn7gcr-64-592">
            <a:extLst xmlns:a="http://schemas.openxmlformats.org/drawingml/2006/main">
              <a:ext uri="{FF2B5EF4-FFF2-40B4-BE49-F238E27FC236}">
                <a16:creationId xmlns:a16="http://schemas.microsoft.com/office/drawing/2014/main" id="{9E882C61-3FB1-4896-951A-4D17883DF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47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rPr>
              <a:t>핵심: orders → order_items ← products</a:t>
            </a:r>
          </a:p>
        </p:txBody>
      </p:sp>
    </p:spTree>
    <p:extLst>
      <p:ext uri="{BB962C8B-B14F-4D97-AF65-F5344CB8AC3E}">
        <p14:creationId xmlns:p14="http://schemas.microsoft.com/office/powerpoint/2010/main" val="76118605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qpk0sv-64-27">
            <a:extLst xmlns:a="http://schemas.openxmlformats.org/drawingml/2006/main">
              <a:ext uri="{FF2B5EF4-FFF2-40B4-BE49-F238E27FC236}">
                <a16:creationId xmlns:a16="http://schemas.microsoft.com/office/drawing/2014/main" id="{01671675-D33C-467F-B4E9-E29E9FAC7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rPr>
              <a:t>2. AGGREGATION</a:t>
            </a:r>
          </a:p>
        </p:txBody>
      </p:sp>
      <p:sp>
        <p:nvSpPr>
          <p:cNvPr id="2" name="text-qpk0sv-64-78">
            <a:extLst xmlns:a="http://schemas.openxmlformats.org/drawingml/2006/main">
              <a:ext uri="{FF2B5EF4-FFF2-40B4-BE49-F238E27FC236}">
                <a16:creationId xmlns:a16="http://schemas.microsoft.com/office/drawing/2014/main" id="{9C64D763-3CA4-4DEA-804D-007EBDFD2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관리자는 상태별 건수와 금액을 본다</a:t>
            </a:r>
          </a:p>
        </p:txBody>
      </p:sp>
      <p:sp>
        <p:nvSpPr>
          <p:cNvPr id="3" name="text-qpk0sv-64-670">
            <a:extLst xmlns:a="http://schemas.openxmlformats.org/drawingml/2006/main">
              <a:ext uri="{FF2B5EF4-FFF2-40B4-BE49-F238E27FC236}">
                <a16:creationId xmlns:a16="http://schemas.microsoft.com/office/drawing/2014/main" id="{06D63584-0ED5-4213-9978-FDE5C48C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267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775"/>
                </a:solidFill>
                <a:latin typeface="Malgun Gothic"/>
                <a:ea typeface="Malgun Gothic"/>
                <a:cs typeface="Malgun Gothic"/>
              </a:rPr>
              <a:t>AX_TeamDB  /  ex.ipynb</a:t>
            </a:r>
          </a:p>
        </p:txBody>
      </p:sp>
      <p:sp>
        <p:nvSpPr>
          <p:cNvPr id="4" name="text-qpk0sv-1170-665">
            <a:extLst xmlns:a="http://schemas.openxmlformats.org/drawingml/2006/main">
              <a:ext uri="{FF2B5EF4-FFF2-40B4-BE49-F238E27FC236}">
                <a16:creationId xmlns:a16="http://schemas.microsoft.com/office/drawing/2014/main" id="{293185C3-0474-48AD-9D03-B7159C39C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5" name="text-qpk0sv-64-177">
            <a:extLst xmlns:a="http://schemas.openxmlformats.org/drawingml/2006/main">
              <a:ext uri="{FF2B5EF4-FFF2-40B4-BE49-F238E27FC236}">
                <a16:creationId xmlns:a16="http://schemas.microsoft.com/office/drawing/2014/main" id="{7D511483-24CC-43D8-B625-245569701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1095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26775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526775"/>
                </a:solidFill>
                <a:latin typeface="Malgun Gothic"/>
                <a:ea typeface="Malgun Gothic"/>
                <a:cs typeface="Malgun Gothic"/>
              </a:rPr>
              <a:t>시연 예시: 12,000원 머그컵 × 2개, 배송중 주문 1건만 있을 때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609600" y="2333625"/>
          <a:ext xmlns:a="http://schemas.openxmlformats.org/drawingml/2006/main" cx="10972800" cy="1371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81300"/>
                <a:gridCol w="1333500"/>
                <a:gridCol w="1714500"/>
                <a:gridCol w="1714500"/>
                <a:gridCol w="1714500"/>
                <a:gridCol w="1714500"/>
              </a:tblGrid>
              <a:tr h="6858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상태</a:t>
                      </a:r>
                    </a:p>
                  </a:txBody>
                  <a:tcPr marL="91440" marR="91440" marT="45720" marB="45720">
                    <a:solidFill>
                      <a:srgbClr val="126C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COUNT</a:t>
                      </a:r>
                    </a:p>
                  </a:txBody>
                  <a:tcPr marL="91440" marR="91440" marT="45720" marB="45720">
                    <a:solidFill>
                      <a:srgbClr val="126C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SUM</a:t>
                      </a:r>
                    </a:p>
                  </a:txBody>
                  <a:tcPr marL="91440" marR="91440" marT="45720" marB="45720">
                    <a:solidFill>
                      <a:srgbClr val="126C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AVG</a:t>
                      </a:r>
                    </a:p>
                  </a:txBody>
                  <a:tcPr marL="91440" marR="91440" marT="45720" marB="45720">
                    <a:solidFill>
                      <a:srgbClr val="126C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MIN</a:t>
                      </a:r>
                    </a:p>
                  </a:txBody>
                  <a:tcPr marL="91440" marR="91440" marT="45720" marB="45720">
                    <a:solidFill>
                      <a:srgbClr val="126C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MAX</a:t>
                      </a:r>
                    </a:p>
                  </a:txBody>
                  <a:tcPr marL="91440" marR="91440" marT="45720" marB="45720">
                    <a:solidFill>
                      <a:srgbClr val="126C70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ON_DELIVERY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24,000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24,000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24,000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24,000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</a:tr>
            </a:tbl>
          </a:graphicData>
        </a:graphic>
      </p:graphicFrame>
      <p:sp>
        <p:nvSpPr>
          <p:cNvPr id="7" name="text-qpk0sv-64-429">
            <a:extLst xmlns:a="http://schemas.openxmlformats.org/drawingml/2006/main">
              <a:ext uri="{FF2B5EF4-FFF2-40B4-BE49-F238E27FC236}">
                <a16:creationId xmlns:a16="http://schemas.microsoft.com/office/drawing/2014/main" id="{62EB4A5B-E181-4245-AB1C-65FF56E87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SELECT order_status, COUNT(*), SUM(total_price), AVG(total_price)</a:t>
            </a:r>
          </a:p>
          <a:p xmlns:a="http://schemas.openxmlformats.org/drawingml/2006/main">
            <a:pPr>
              <a:buNone/>
              <a:defRPr sz="1950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FROM orders WHERE deleted_at IS NULL</a:t>
            </a:r>
          </a:p>
          <a:p xmlns:a="http://schemas.openxmlformats.org/drawingml/2006/main">
            <a:pPr>
              <a:buNone/>
              <a:defRPr sz="1950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GROUP BY order_status;</a:t>
            </a:r>
          </a:p>
        </p:txBody>
      </p:sp>
      <p:sp>
        <p:nvSpPr>
          <p:cNvPr id="8" name="text-qpk0sv-64-597">
            <a:extLst xmlns:a="http://schemas.openxmlformats.org/drawingml/2006/main">
              <a:ext uri="{FF2B5EF4-FFF2-40B4-BE49-F238E27FC236}">
                <a16:creationId xmlns:a16="http://schemas.microsoft.com/office/drawing/2014/main" id="{53702C94-CDCD-45B2-AE24-86BF5E90F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8642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rPr>
              <a:t>노트북: Python 집계  /  SQL Editor: DB 집계함수</a:t>
            </a:r>
          </a:p>
        </p:txBody>
      </p:sp>
    </p:spTree>
    <p:extLst>
      <p:ext uri="{BB962C8B-B14F-4D97-AF65-F5344CB8AC3E}">
        <p14:creationId xmlns:p14="http://schemas.microsoft.com/office/powerpoint/2010/main" val="157528197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77uxrv-64-27">
            <a:extLst xmlns:a="http://schemas.openxmlformats.org/drawingml/2006/main">
              <a:ext uri="{FF2B5EF4-FFF2-40B4-BE49-F238E27FC236}">
                <a16:creationId xmlns:a16="http://schemas.microsoft.com/office/drawing/2014/main" id="{EF976FA6-4CEC-444B-8EB0-5CC08D3AB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rPr>
              <a:t>3. JOIN</a:t>
            </a:r>
          </a:p>
        </p:txBody>
      </p:sp>
      <p:sp>
        <p:nvSpPr>
          <p:cNvPr id="2" name="text-77uxrv-64-78">
            <a:extLst xmlns:a="http://schemas.openxmlformats.org/drawingml/2006/main">
              <a:ext uri="{FF2B5EF4-FFF2-40B4-BE49-F238E27FC236}">
                <a16:creationId xmlns:a16="http://schemas.microsoft.com/office/drawing/2014/main" id="{02431F63-C1AB-49D5-9D4C-4683C69C3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주문번호 옆에 상품명과 수량을 붙인다</a:t>
            </a:r>
          </a:p>
        </p:txBody>
      </p:sp>
      <p:sp>
        <p:nvSpPr>
          <p:cNvPr id="3" name="text-77uxrv-64-670">
            <a:extLst xmlns:a="http://schemas.openxmlformats.org/drawingml/2006/main">
              <a:ext uri="{FF2B5EF4-FFF2-40B4-BE49-F238E27FC236}">
                <a16:creationId xmlns:a16="http://schemas.microsoft.com/office/drawing/2014/main" id="{BA2521E0-3DCE-4DB7-9F2C-3200E5857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267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775"/>
                </a:solidFill>
                <a:latin typeface="Malgun Gothic"/>
                <a:ea typeface="Malgun Gothic"/>
                <a:cs typeface="Malgun Gothic"/>
              </a:rPr>
              <a:t>AX_TeamDB  /  ex.ipynb</a:t>
            </a:r>
          </a:p>
        </p:txBody>
      </p:sp>
      <p:sp>
        <p:nvSpPr>
          <p:cNvPr id="4" name="text-77uxrv-1170-665">
            <a:extLst xmlns:a="http://schemas.openxmlformats.org/drawingml/2006/main">
              <a:ext uri="{FF2B5EF4-FFF2-40B4-BE49-F238E27FC236}">
                <a16:creationId xmlns:a16="http://schemas.microsoft.com/office/drawing/2014/main" id="{68F3F687-E5A4-47F2-9567-FEF936EAB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5" name="text-77uxrv-64-194">
            <a:extLst xmlns:a="http://schemas.openxmlformats.org/drawingml/2006/main">
              <a:ext uri="{FF2B5EF4-FFF2-40B4-BE49-F238E27FC236}">
                <a16:creationId xmlns:a16="http://schemas.microsoft.com/office/drawing/2014/main" id="{099BD050-A128-443E-BB7C-57C242BC5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109728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supabase.table("orders").select(</a:t>
            </a:r>
          </a:p>
          <a:p xmlns:a="http://schemas.openxmlformats.org/drawingml/2006/main">
            <a:pPr>
              <a:buNone/>
              <a:defRPr sz="2025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    "order_no,order_status,"</a:t>
            </a:r>
          </a:p>
          <a:p xmlns:a="http://schemas.openxmlformats.org/drawingml/2006/main">
            <a:pPr>
              <a:buNone/>
              <a:defRPr sz="2025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    "order_items(item_name,item_price,quantity,products(name))"</a:t>
            </a:r>
          </a:p>
          <a:p xmlns:a="http://schemas.openxmlformats.org/drawingml/2006/main">
            <a:pPr>
              <a:buNone/>
              <a:defRPr sz="2025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).execute().data</a:t>
            </a:r>
          </a:p>
        </p:txBody>
      </p:sp>
      <p:sp>
        <p:nvSpPr>
          <p:cNvPr id="6" name="text-77uxrv-64-409">
            <a:extLst xmlns:a="http://schemas.openxmlformats.org/drawingml/2006/main">
              <a:ext uri="{FF2B5EF4-FFF2-40B4-BE49-F238E27FC236}">
                <a16:creationId xmlns:a16="http://schemas.microsoft.com/office/drawing/2014/main" id="{01489F34-984C-4B08-BF4B-AF9F70231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95725"/>
            <a:ext cx="10972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rPr>
              <a:t>주문 정보  +  주문상품 정보  +  현재 상품명</a:t>
            </a:r>
          </a:p>
        </p:txBody>
      </p:sp>
      <p:sp>
        <p:nvSpPr>
          <p:cNvPr id="7" name="text-77uxrv-64-492">
            <a:extLst xmlns:a="http://schemas.openxmlformats.org/drawingml/2006/main">
              <a:ext uri="{FF2B5EF4-FFF2-40B4-BE49-F238E27FC236}">
                <a16:creationId xmlns:a16="http://schemas.microsoft.com/office/drawing/2014/main" id="{33A9CDF4-5F67-4202-95C5-F6DFFD919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09728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INNER JOIN: 연결되는 행만</a:t>
            </a:r>
          </a:p>
          <a:p xmlns:a="http://schemas.openxmlformats.org/drawingml/2006/main">
            <a:pPr>
              <a:buNone/>
              <a:defRPr sz="2100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LEFT JOIN: 왼쪽 행을 유지, 연결이 없으면 NULL</a:t>
            </a:r>
          </a:p>
        </p:txBody>
      </p:sp>
    </p:spTree>
    <p:extLst>
      <p:ext uri="{BB962C8B-B14F-4D97-AF65-F5344CB8AC3E}">
        <p14:creationId xmlns:p14="http://schemas.microsoft.com/office/powerpoint/2010/main" val="32137696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xe5y7l-64-27">
            <a:extLst xmlns:a="http://schemas.openxmlformats.org/drawingml/2006/main">
              <a:ext uri="{FF2B5EF4-FFF2-40B4-BE49-F238E27FC236}">
                <a16:creationId xmlns:a16="http://schemas.microsoft.com/office/drawing/2014/main" id="{ECD07EAD-532B-43F7-B72C-A8080E43F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rPr>
              <a:t>3. SET OPERATIONS</a:t>
            </a:r>
          </a:p>
        </p:txBody>
      </p:sp>
      <p:sp>
        <p:nvSpPr>
          <p:cNvPr id="2" name="text-xe5y7l-64-78">
            <a:extLst xmlns:a="http://schemas.openxmlformats.org/drawingml/2006/main">
              <a:ext uri="{FF2B5EF4-FFF2-40B4-BE49-F238E27FC236}">
                <a16:creationId xmlns:a16="http://schemas.microsoft.com/office/drawing/2014/main" id="{D319D821-2D79-4DC1-8F63-8317E90DB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집합은 같은 종류의 결과를 비교한다</a:t>
            </a:r>
          </a:p>
        </p:txBody>
      </p:sp>
      <p:sp>
        <p:nvSpPr>
          <p:cNvPr id="3" name="text-xe5y7l-64-670">
            <a:extLst xmlns:a="http://schemas.openxmlformats.org/drawingml/2006/main">
              <a:ext uri="{FF2B5EF4-FFF2-40B4-BE49-F238E27FC236}">
                <a16:creationId xmlns:a16="http://schemas.microsoft.com/office/drawing/2014/main" id="{CB144387-7223-4A1A-98F8-8392CE98D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267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775"/>
                </a:solidFill>
                <a:latin typeface="Malgun Gothic"/>
                <a:ea typeface="Malgun Gothic"/>
                <a:cs typeface="Malgun Gothic"/>
              </a:rPr>
              <a:t>AX_TeamDB  /  ex.ipynb</a:t>
            </a:r>
          </a:p>
        </p:txBody>
      </p:sp>
      <p:sp>
        <p:nvSpPr>
          <p:cNvPr id="4" name="text-xe5y7l-1170-665">
            <a:extLst xmlns:a="http://schemas.openxmlformats.org/drawingml/2006/main">
              <a:ext uri="{FF2B5EF4-FFF2-40B4-BE49-F238E27FC236}">
                <a16:creationId xmlns:a16="http://schemas.microsoft.com/office/drawing/2014/main" id="{B9474562-370D-44E0-BD69-B8D102522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09600" y="1771650"/>
          <a:ext xmlns:a="http://schemas.openxmlformats.org/drawingml/2006/main" cx="10972800" cy="32575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2857500"/>
                <a:gridCol w="5638800"/>
              </a:tblGrid>
              <a:tr h="65151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연산</a:t>
                      </a:r>
                    </a:p>
                  </a:txBody>
                  <a:tcPr marL="91440" marR="91440" marT="45720" marB="45720">
                    <a:solidFill>
                      <a:srgbClr val="126C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Python 시연</a:t>
                      </a:r>
                    </a:p>
                  </a:txBody>
                  <a:tcPr marL="91440" marR="91440" marT="45720" marB="45720">
                    <a:solidFill>
                      <a:srgbClr val="126C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관리자 관점의 의미</a:t>
                      </a:r>
                    </a:p>
                  </a:txBody>
                  <a:tcPr marL="91440" marR="91440" marT="45720" marB="45720">
                    <a:solidFill>
                      <a:srgbClr val="126C70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UNION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 | B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어느 한쪽에 있는 상품 ID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UNION ALL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목록 A + 목록 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중복을 유지한 전체 ID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INTERSECT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 &amp; B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등록돼 있고 주문된 상품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EXCEPT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 - 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등록됐지만 주문되지 않은 상품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-xe5y7l-64-565">
            <a:extLst xmlns:a="http://schemas.openxmlformats.org/drawingml/2006/main">
              <a:ext uri="{FF2B5EF4-FFF2-40B4-BE49-F238E27FC236}">
                <a16:creationId xmlns:a16="http://schemas.microsoft.com/office/drawing/2014/main" id="{79552846-0437-4C61-99BE-D43AA990E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rPr>
              <a:t>A = 등록 상품 ID  /  B = 주문상품의 상품 ID</a:t>
            </a:r>
          </a:p>
        </p:txBody>
      </p:sp>
    </p:spTree>
    <p:extLst>
      <p:ext uri="{BB962C8B-B14F-4D97-AF65-F5344CB8AC3E}">
        <p14:creationId xmlns:p14="http://schemas.microsoft.com/office/powerpoint/2010/main" val="18293236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ytfk02-64-27">
            <a:extLst xmlns:a="http://schemas.openxmlformats.org/drawingml/2006/main">
              <a:ext uri="{FF2B5EF4-FFF2-40B4-BE49-F238E27FC236}">
                <a16:creationId xmlns:a16="http://schemas.microsoft.com/office/drawing/2014/main" id="{872C7FA5-F08D-443D-9432-0637A63EE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rPr>
              <a:t>4. SUBQUERY</a:t>
            </a:r>
          </a:p>
        </p:txBody>
      </p:sp>
      <p:sp>
        <p:nvSpPr>
          <p:cNvPr id="2" name="text-ytfk02-64-78">
            <a:extLst xmlns:a="http://schemas.openxmlformats.org/drawingml/2006/main">
              <a:ext uri="{FF2B5EF4-FFF2-40B4-BE49-F238E27FC236}">
                <a16:creationId xmlns:a16="http://schemas.microsoft.com/office/drawing/2014/main" id="{7242B161-30DA-4600-AB5A-99724E5B3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평균값 하나를 조건으로 사용한다</a:t>
            </a:r>
          </a:p>
        </p:txBody>
      </p:sp>
      <p:sp>
        <p:nvSpPr>
          <p:cNvPr id="3" name="text-ytfk02-64-670">
            <a:extLst xmlns:a="http://schemas.openxmlformats.org/drawingml/2006/main">
              <a:ext uri="{FF2B5EF4-FFF2-40B4-BE49-F238E27FC236}">
                <a16:creationId xmlns:a16="http://schemas.microsoft.com/office/drawing/2014/main" id="{63970E25-1D8C-4BF5-8117-01EFBA2A9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267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775"/>
                </a:solidFill>
                <a:latin typeface="Malgun Gothic"/>
                <a:ea typeface="Malgun Gothic"/>
                <a:cs typeface="Malgun Gothic"/>
              </a:rPr>
              <a:t>AX_TeamDB  /  ex.ipynb</a:t>
            </a:r>
          </a:p>
        </p:txBody>
      </p:sp>
      <p:sp>
        <p:nvSpPr>
          <p:cNvPr id="4" name="text-ytfk02-1170-665">
            <a:extLst xmlns:a="http://schemas.openxmlformats.org/drawingml/2006/main">
              <a:ext uri="{FF2B5EF4-FFF2-40B4-BE49-F238E27FC236}">
                <a16:creationId xmlns:a16="http://schemas.microsoft.com/office/drawing/2014/main" id="{D232BC22-DFA1-4B91-8B6A-813848866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rPr>
              <a:t>08</a:t>
            </a:r>
          </a:p>
        </p:txBody>
      </p:sp>
      <p:sp>
        <p:nvSpPr>
          <p:cNvPr id="5" name="text-ytfk02-64-185">
            <a:extLst xmlns:a="http://schemas.openxmlformats.org/drawingml/2006/main">
              <a:ext uri="{FF2B5EF4-FFF2-40B4-BE49-F238E27FC236}">
                <a16:creationId xmlns:a16="http://schemas.microsoft.com/office/drawing/2014/main" id="{2076C130-8F97-4ED6-B364-F19EEEC6F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714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SELECT name, price</a:t>
            </a:r>
          </a:p>
          <a:p xmlns:a="http://schemas.openxmlformats.org/drawingml/2006/main">
            <a:pPr>
              <a:buNone/>
              <a:defRPr sz="2025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FROM products</a:t>
            </a:r>
          </a:p>
          <a:p xmlns:a="http://schemas.openxmlformats.org/drawingml/2006/main">
            <a:pPr>
              <a:buNone/>
              <a:defRPr sz="2025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WHERE deleted_at IS NULL</a:t>
            </a:r>
          </a:p>
          <a:p xmlns:a="http://schemas.openxmlformats.org/drawingml/2006/main">
            <a:pPr>
              <a:buNone/>
              <a:defRPr sz="2025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  AND price &gt; (</a:t>
            </a:r>
          </a:p>
          <a:p xmlns:a="http://schemas.openxmlformats.org/drawingml/2006/main">
            <a:pPr>
              <a:buNone/>
              <a:defRPr sz="2025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    SELECT AVG(price) FROM products</a:t>
            </a:r>
          </a:p>
          <a:p xmlns:a="http://schemas.openxmlformats.org/drawingml/2006/main">
            <a:pPr>
              <a:buNone/>
              <a:defRPr sz="2025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    WHERE deleted_at IS NULL</a:t>
            </a:r>
          </a:p>
          <a:p xmlns:a="http://schemas.openxmlformats.org/drawingml/2006/main">
            <a:pPr>
              <a:buNone/>
              <a:defRPr sz="2025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  );</a:t>
            </a:r>
          </a:p>
        </p:txBody>
      </p:sp>
      <p:sp>
        <p:nvSpPr>
          <p:cNvPr id="6" name="text-ytfk02-855-205">
            <a:extLst xmlns:a="http://schemas.openxmlformats.org/drawingml/2006/main">
              <a:ext uri="{FF2B5EF4-FFF2-40B4-BE49-F238E27FC236}">
                <a16:creationId xmlns:a16="http://schemas.microsoft.com/office/drawing/2014/main" id="{73618FF3-8509-4BD3-A92B-E745A32F2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952625"/>
            <a:ext cx="35242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rPr>
              <a:t>① 평균 계산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75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rPr>
              <a:t>② 각 가격과 비교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175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rPr>
              <a:t>③ 평균 초과 상품 출력</a:t>
            </a:r>
          </a:p>
        </p:txBody>
      </p:sp>
      <p:sp>
        <p:nvSpPr>
          <p:cNvPr id="7" name="text-ytfk02-64-558">
            <a:extLst xmlns:a="http://schemas.openxmlformats.org/drawingml/2006/main">
              <a:ext uri="{FF2B5EF4-FFF2-40B4-BE49-F238E27FC236}">
                <a16:creationId xmlns:a16="http://schemas.microsoft.com/office/drawing/2014/main" id="{8F6DACDB-D586-48D3-AB04-148BCC056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값 하나 → 스칼라  /  바깥 행 참조 없음 → 비상관</a:t>
            </a:r>
          </a:p>
        </p:txBody>
      </p:sp>
    </p:spTree>
    <p:extLst>
      <p:ext uri="{BB962C8B-B14F-4D97-AF65-F5344CB8AC3E}">
        <p14:creationId xmlns:p14="http://schemas.microsoft.com/office/powerpoint/2010/main" val="34086274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mhxih2-64-27">
            <a:extLst xmlns:a="http://schemas.openxmlformats.org/drawingml/2006/main">
              <a:ext uri="{FF2B5EF4-FFF2-40B4-BE49-F238E27FC236}">
                <a16:creationId xmlns:a16="http://schemas.microsoft.com/office/drawing/2014/main" id="{DBC34F7F-5534-4936-9331-4111DAA58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rPr>
              <a:t>4. SUBQUERY</a:t>
            </a:r>
          </a:p>
        </p:txBody>
      </p:sp>
      <p:sp>
        <p:nvSpPr>
          <p:cNvPr id="2" name="text-mhxih2-64-78">
            <a:extLst xmlns:a="http://schemas.openxmlformats.org/drawingml/2006/main">
              <a:ext uri="{FF2B5EF4-FFF2-40B4-BE49-F238E27FC236}">
                <a16:creationId xmlns:a16="http://schemas.microsoft.com/office/drawing/2014/main" id="{1CE6A8B7-3C87-4AA8-A9B7-5E9F025FA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IN은 포함 여부, EXISTS는 존재 여부</a:t>
            </a:r>
          </a:p>
        </p:txBody>
      </p:sp>
      <p:sp>
        <p:nvSpPr>
          <p:cNvPr id="3" name="text-mhxih2-64-670">
            <a:extLst xmlns:a="http://schemas.openxmlformats.org/drawingml/2006/main">
              <a:ext uri="{FF2B5EF4-FFF2-40B4-BE49-F238E27FC236}">
                <a16:creationId xmlns:a16="http://schemas.microsoft.com/office/drawing/2014/main" id="{4844CF29-C898-45B3-B1CD-E6F6CF093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267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775"/>
                </a:solidFill>
                <a:latin typeface="Malgun Gothic"/>
                <a:ea typeface="Malgun Gothic"/>
                <a:cs typeface="Malgun Gothic"/>
              </a:rPr>
              <a:t>AX_TeamDB  /  ex.ipynb</a:t>
            </a:r>
          </a:p>
        </p:txBody>
      </p:sp>
      <p:sp>
        <p:nvSpPr>
          <p:cNvPr id="4" name="text-mhxih2-1170-665">
            <a:extLst xmlns:a="http://schemas.openxmlformats.org/drawingml/2006/main">
              <a:ext uri="{FF2B5EF4-FFF2-40B4-BE49-F238E27FC236}">
                <a16:creationId xmlns:a16="http://schemas.microsoft.com/office/drawing/2014/main" id="{13A7F903-CE99-4118-8B21-610389A35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rPr>
              <a:t>09</a:t>
            </a:r>
          </a:p>
        </p:txBody>
      </p:sp>
      <p:sp>
        <p:nvSpPr>
          <p:cNvPr id="5" name="text-mhxih2-64-190">
            <a:extLst xmlns:a="http://schemas.openxmlformats.org/drawingml/2006/main">
              <a:ext uri="{FF2B5EF4-FFF2-40B4-BE49-F238E27FC236}">
                <a16:creationId xmlns:a16="http://schemas.microsoft.com/office/drawing/2014/main" id="{DDD58115-71F6-49A9-9EEE-B1DD28B99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23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rPr>
              <a:t>IN: 목록에 포함?</a:t>
            </a:r>
          </a:p>
        </p:txBody>
      </p:sp>
      <p:sp>
        <p:nvSpPr>
          <p:cNvPr id="6" name="text-mhxih2-64-275">
            <a:extLst xmlns:a="http://schemas.openxmlformats.org/drawingml/2006/main">
              <a:ext uri="{FF2B5EF4-FFF2-40B4-BE49-F238E27FC236}">
                <a16:creationId xmlns:a16="http://schemas.microsoft.com/office/drawing/2014/main" id="{26088661-5F57-4FD7-85E6-27B7AB70B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52387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WHERE id IN (</a:t>
            </a:r>
          </a:p>
          <a:p xmlns:a="http://schemas.openxmlformats.org/drawingml/2006/main">
            <a:pPr>
              <a:buNone/>
              <a:defRPr sz="1950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  SELECT product_id</a:t>
            </a:r>
          </a:p>
          <a:p xmlns:a="http://schemas.openxmlformats.org/drawingml/2006/main">
            <a:pPr>
              <a:buNone/>
              <a:defRPr sz="1950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  FROM order_items</a:t>
            </a:r>
          </a:p>
          <a:p xmlns:a="http://schemas.openxmlformats.org/drawingml/2006/main">
            <a:pPr>
              <a:buNone/>
              <a:defRPr sz="1950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  WHERE deleted_at IS NULL</a:t>
            </a:r>
          </a:p>
          <a:p xmlns:a="http://schemas.openxmlformats.org/drawingml/2006/main">
            <a:pPr>
              <a:buNone/>
              <a:defRPr sz="1950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)</a:t>
            </a:r>
          </a:p>
        </p:txBody>
      </p:sp>
      <p:sp>
        <p:nvSpPr>
          <p:cNvPr id="7" name="text-mhxih2-664-190">
            <a:extLst xmlns:a="http://schemas.openxmlformats.org/drawingml/2006/main">
              <a:ext uri="{FF2B5EF4-FFF2-40B4-BE49-F238E27FC236}">
                <a16:creationId xmlns:a16="http://schemas.microsoft.com/office/drawing/2014/main" id="{AEAF4627-84F0-45DC-8647-2245D895E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809750"/>
            <a:ext cx="5257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rPr>
              <a:t>EXISTS: 관련 행이 존재?</a:t>
            </a:r>
          </a:p>
        </p:txBody>
      </p:sp>
      <p:sp>
        <p:nvSpPr>
          <p:cNvPr id="8" name="text-mhxih2-664-275">
            <a:extLst xmlns:a="http://schemas.openxmlformats.org/drawingml/2006/main">
              <a:ext uri="{FF2B5EF4-FFF2-40B4-BE49-F238E27FC236}">
                <a16:creationId xmlns:a16="http://schemas.microsoft.com/office/drawing/2014/main" id="{BE40AF06-78B3-4951-8A84-9B911749D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19375"/>
            <a:ext cx="52578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WHERE EXISTS (</a:t>
            </a:r>
          </a:p>
          <a:p xmlns:a="http://schemas.openxmlformats.org/drawingml/2006/main">
            <a:pPr>
              <a:buNone/>
              <a:defRPr sz="1950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  SELECT 1 FROM order_items oi</a:t>
            </a:r>
          </a:p>
          <a:p xmlns:a="http://schemas.openxmlformats.org/drawingml/2006/main">
            <a:pPr>
              <a:buNone/>
              <a:defRPr sz="1950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  WHERE oi.product_id = p.id</a:t>
            </a:r>
          </a:p>
          <a:p xmlns:a="http://schemas.openxmlformats.org/drawingml/2006/main">
            <a:pPr>
              <a:buNone/>
              <a:defRPr sz="1950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    AND oi.deleted_at IS NULL</a:t>
            </a:r>
          </a:p>
          <a:p xmlns:a="http://schemas.openxmlformats.org/drawingml/2006/main">
            <a:pPr>
              <a:buNone/>
              <a:defRPr sz="1950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)</a:t>
            </a:r>
          </a:p>
        </p:txBody>
      </p:sp>
      <p:sp>
        <p:nvSpPr>
          <p:cNvPr id="9" name="text-mhxih2-64-582">
            <a:extLst xmlns:a="http://schemas.openxmlformats.org/drawingml/2006/main">
              <a:ext uri="{FF2B5EF4-FFF2-40B4-BE49-F238E27FC236}">
                <a16:creationId xmlns:a16="http://schemas.microsoft.com/office/drawing/2014/main" id="{52533ECB-068E-4D16-9A8C-78238037D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안쪽의 p.id 참조가 상관 서브쿼리의 핵심</a:t>
            </a:r>
          </a:p>
        </p:txBody>
      </p:sp>
    </p:spTree>
    <p:extLst>
      <p:ext uri="{BB962C8B-B14F-4D97-AF65-F5344CB8AC3E}">
        <p14:creationId xmlns:p14="http://schemas.microsoft.com/office/powerpoint/2010/main" val="196418914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bjqgsk-64-27">
            <a:extLst xmlns:a="http://schemas.openxmlformats.org/drawingml/2006/main">
              <a:ext uri="{FF2B5EF4-FFF2-40B4-BE49-F238E27FC236}">
                <a16:creationId xmlns:a16="http://schemas.microsoft.com/office/drawing/2014/main" id="{70A40F5B-7BD7-4967-86B9-4B1162DFB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rPr>
              <a:t>5. TCL &amp; ACID</a:t>
            </a:r>
          </a:p>
        </p:txBody>
      </p:sp>
      <p:sp>
        <p:nvSpPr>
          <p:cNvPr id="2" name="text-bjqgsk-64-78">
            <a:extLst xmlns:a="http://schemas.openxmlformats.org/drawingml/2006/main">
              <a:ext uri="{FF2B5EF4-FFF2-40B4-BE49-F238E27FC236}">
                <a16:creationId xmlns:a16="http://schemas.microsoft.com/office/drawing/2014/main" id="{57F88403-1423-440D-8C68-D47CA5DAA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ROLLBACK으로 상태 변경을 취소한다</a:t>
            </a:r>
          </a:p>
        </p:txBody>
      </p:sp>
      <p:sp>
        <p:nvSpPr>
          <p:cNvPr id="3" name="text-bjqgsk-64-670">
            <a:extLst xmlns:a="http://schemas.openxmlformats.org/drawingml/2006/main">
              <a:ext uri="{FF2B5EF4-FFF2-40B4-BE49-F238E27FC236}">
                <a16:creationId xmlns:a16="http://schemas.microsoft.com/office/drawing/2014/main" id="{651B8292-657A-449C-9C84-41EE66F9D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267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775"/>
                </a:solidFill>
                <a:latin typeface="Malgun Gothic"/>
                <a:ea typeface="Malgun Gothic"/>
                <a:cs typeface="Malgun Gothic"/>
              </a:rPr>
              <a:t>AX_TeamDB  /  ex.ipynb</a:t>
            </a:r>
          </a:p>
        </p:txBody>
      </p:sp>
      <p:sp>
        <p:nvSpPr>
          <p:cNvPr id="4" name="text-bjqgsk-1170-665">
            <a:extLst xmlns:a="http://schemas.openxmlformats.org/drawingml/2006/main">
              <a:ext uri="{FF2B5EF4-FFF2-40B4-BE49-F238E27FC236}">
                <a16:creationId xmlns:a16="http://schemas.microsoft.com/office/drawing/2014/main" id="{34E1EA3A-6158-4152-A4B0-E347EFC34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5" name="text-bjqgsk-64-187">
            <a:extLst xmlns:a="http://schemas.openxmlformats.org/drawingml/2006/main">
              <a:ext uri="{FF2B5EF4-FFF2-40B4-BE49-F238E27FC236}">
                <a16:creationId xmlns:a16="http://schemas.microsoft.com/office/drawing/2014/main" id="{8F5E16D8-C556-4D1D-9803-1A1641F85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81175"/>
            <a:ext cx="10972800" cy="1704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BEGIN;</a:t>
            </a:r>
          </a:p>
          <a:p xmlns:a="http://schemas.openxmlformats.org/drawingml/2006/main">
            <a:pPr>
              <a:buNone/>
              <a:defRPr sz="2100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UPDATE orders SET order_status = 'DELIVERED'</a:t>
            </a:r>
          </a:p>
          <a:p xmlns:a="http://schemas.openxmlformats.org/drawingml/2006/main">
            <a:pPr>
              <a:buNone/>
              <a:defRPr sz="2100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WHERE id = '실제 주문 ID';</a:t>
            </a:r>
          </a:p>
          <a:p xmlns:a="http://schemas.openxmlformats.org/drawingml/2006/main">
            <a:pPr>
              <a:buNone/>
              <a:defRPr sz="2100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ROLLBACK;</a:t>
            </a:r>
          </a:p>
        </p:txBody>
      </p:sp>
      <p:sp>
        <p:nvSpPr>
          <p:cNvPr id="6" name="text-bjqgsk-64-350">
            <a:extLst xmlns:a="http://schemas.openxmlformats.org/drawingml/2006/main">
              <a:ext uri="{FF2B5EF4-FFF2-40B4-BE49-F238E27FC236}">
                <a16:creationId xmlns:a16="http://schemas.microsoft.com/office/drawing/2014/main" id="{765D8D70-1DC5-4BA8-9967-CC5EDA475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rPr>
              <a:t>앞의 주문 생성과 주문상품 생성은 별도 API 요청이며 한 트랜잭션이 아니다.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609600" y="3781425"/>
          <a:ext xmlns:a="http://schemas.openxmlformats.org/drawingml/2006/main" cx="10972800" cy="2324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67000"/>
                <a:gridCol w="8305800"/>
              </a:tblGrid>
              <a:tr h="46482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ACID</a:t>
                      </a:r>
                    </a:p>
                  </a:txBody>
                  <a:tcPr marL="91440" marR="91440" marT="45720" marB="45720">
                    <a:solidFill>
                      <a:srgbClr val="126C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주문 예제에서의 의미</a:t>
                      </a:r>
                    </a:p>
                  </a:txBody>
                  <a:tcPr marL="91440" marR="91440" marT="45720" marB="45720">
                    <a:solidFill>
                      <a:srgbClr val="126C70"/>
                    </a:solidFill>
                  </a:tcPr>
                </a:tc>
              </a:tr>
              <a:tr h="46482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 원자성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주문과 주문상품을 하나의 처리 단위로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</a:tr>
              <a:tr h="46482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 일관성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FK와 수량 등 무결성 규칙 유지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6482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 격리성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동시 트랜잭션의 간섭을 제어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</a:tr>
              <a:tr h="46482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 지속성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커밋된 결과를 장애 후에도 보존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2582538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hjuqol-64-27">
            <a:extLst xmlns:a="http://schemas.openxmlformats.org/drawingml/2006/main">
              <a:ext uri="{FF2B5EF4-FFF2-40B4-BE49-F238E27FC236}">
                <a16:creationId xmlns:a16="http://schemas.microsoft.com/office/drawing/2014/main" id="{26CEC6B4-75EB-422E-93F7-DF90390F8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rPr>
              <a:t>6. SDK &amp; CHAINING</a:t>
            </a:r>
          </a:p>
        </p:txBody>
      </p:sp>
      <p:sp>
        <p:nvSpPr>
          <p:cNvPr id="2" name="text-hjuqol-64-78">
            <a:extLst xmlns:a="http://schemas.openxmlformats.org/drawingml/2006/main">
              <a:ext uri="{FF2B5EF4-FFF2-40B4-BE49-F238E27FC236}">
                <a16:creationId xmlns:a16="http://schemas.microsoft.com/office/drawing/2014/main" id="{48EFBE4B-827B-4EF6-9CD4-BF2F41016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SDK가 요청을 만들고, DB가 처리한다</a:t>
            </a:r>
          </a:p>
        </p:txBody>
      </p:sp>
      <p:sp>
        <p:nvSpPr>
          <p:cNvPr id="3" name="text-hjuqol-64-670">
            <a:extLst xmlns:a="http://schemas.openxmlformats.org/drawingml/2006/main">
              <a:ext uri="{FF2B5EF4-FFF2-40B4-BE49-F238E27FC236}">
                <a16:creationId xmlns:a16="http://schemas.microsoft.com/office/drawing/2014/main" id="{BFDEB575-E9B5-4F7F-BC45-4E715F76E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267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775"/>
                </a:solidFill>
                <a:latin typeface="Malgun Gothic"/>
                <a:ea typeface="Malgun Gothic"/>
                <a:cs typeface="Malgun Gothic"/>
              </a:rPr>
              <a:t>AX_TeamDB  /  ex.ipynb</a:t>
            </a:r>
          </a:p>
        </p:txBody>
      </p:sp>
      <p:sp>
        <p:nvSpPr>
          <p:cNvPr id="4" name="text-hjuqol-1170-665">
            <a:extLst xmlns:a="http://schemas.openxmlformats.org/drawingml/2006/main">
              <a:ext uri="{FF2B5EF4-FFF2-40B4-BE49-F238E27FC236}">
                <a16:creationId xmlns:a16="http://schemas.microsoft.com/office/drawing/2014/main" id="{DA3F348B-D0CD-49CE-9DC8-904FC0054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5" name="text-hjuqol-64-206">
            <a:extLst xmlns:a="http://schemas.openxmlformats.org/drawingml/2006/main">
              <a:ext uri="{FF2B5EF4-FFF2-40B4-BE49-F238E27FC236}">
                <a16:creationId xmlns:a16="http://schemas.microsoft.com/office/drawing/2014/main" id="{5A9ED5AF-EE26-4520-98AA-51EC3414E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defRPr>
            </a:pPr>
            <a:r>
              <a:rPr sz="330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rPr>
              <a:t>table → select → eq → execute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609600" y="3219450"/>
          <a:ext xmlns:a="http://schemas.openxmlformats.org/drawingml/2006/main" cx="10972800" cy="23050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7829550"/>
              </a:tblGrid>
              <a:tr h="576263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이름</a:t>
                      </a:r>
                    </a:p>
                  </a:txBody>
                  <a:tcPr marL="91440" marR="91440" marT="45720" marB="45720">
                    <a:solidFill>
                      <a:srgbClr val="126C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이번 발표에서 설명하는 것</a:t>
                      </a:r>
                    </a:p>
                  </a:txBody>
                  <a:tcPr marL="91440" marR="91440" marT="45720" marB="45720">
                    <a:solidFill>
                      <a:srgbClr val="126C70"/>
                    </a:solidFill>
                  </a:tcPr>
                </a:tc>
              </a:tr>
              <a:tr h="57626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SDK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Supabase 기능을 Python에서 호출하는 도구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</a:tr>
              <a:tr h="57626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메서드 체이닝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반환된 객체에 다음 메서드를 이어 호출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626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LangChain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LLM과 도구 등의 흐름을 구성하는 프레임워크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</a:tr>
            </a:tbl>
          </a:graphicData>
        </a:graphic>
      </p:graphicFrame>
      <p:sp>
        <p:nvSpPr>
          <p:cNvPr id="7" name="text-hjuqol-64-605">
            <a:extLst xmlns:a="http://schemas.openxmlformats.org/drawingml/2006/main">
              <a:ext uri="{FF2B5EF4-FFF2-40B4-BE49-F238E27FC236}">
                <a16:creationId xmlns:a16="http://schemas.microsoft.com/office/drawing/2014/main" id="{8CBD7CAD-43B2-44C8-BA9D-9953FEA13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return self 예제는 메서드 체이닝으로 소개한다</a:t>
            </a:r>
          </a:p>
        </p:txBody>
      </p:sp>
    </p:spTree>
    <p:extLst>
      <p:ext uri="{BB962C8B-B14F-4D97-AF65-F5344CB8AC3E}">
        <p14:creationId xmlns:p14="http://schemas.microsoft.com/office/powerpoint/2010/main" val="106098002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ow8nhi-64-27">
            <a:extLst xmlns:a="http://schemas.openxmlformats.org/drawingml/2006/main">
              <a:ext uri="{FF2B5EF4-FFF2-40B4-BE49-F238E27FC236}">
                <a16:creationId xmlns:a16="http://schemas.microsoft.com/office/drawing/2014/main" id="{53B52A2D-961C-41B1-B083-70C2F250F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rPr>
              <a:t>6. RETURN SELF</a:t>
            </a:r>
          </a:p>
        </p:txBody>
      </p:sp>
      <p:sp>
        <p:nvSpPr>
          <p:cNvPr id="2" name="text-ow8nhi-64-78">
            <a:extLst xmlns:a="http://schemas.openxmlformats.org/drawingml/2006/main">
              <a:ext uri="{FF2B5EF4-FFF2-40B4-BE49-F238E27FC236}">
                <a16:creationId xmlns:a16="http://schemas.microsoft.com/office/drawing/2014/main" id="{F195F55F-C83A-4699-88A8-8A1EDACEE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eq() 전후가 같은 객체인지 확인한다</a:t>
            </a:r>
          </a:p>
        </p:txBody>
      </p:sp>
      <p:sp>
        <p:nvSpPr>
          <p:cNvPr id="3" name="text-ow8nhi-64-670">
            <a:extLst xmlns:a="http://schemas.openxmlformats.org/drawingml/2006/main">
              <a:ext uri="{FF2B5EF4-FFF2-40B4-BE49-F238E27FC236}">
                <a16:creationId xmlns:a16="http://schemas.microsoft.com/office/drawing/2014/main" id="{79616E99-4E33-4B19-BAE3-B57711A37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267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775"/>
                </a:solidFill>
                <a:latin typeface="Malgun Gothic"/>
                <a:ea typeface="Malgun Gothic"/>
                <a:cs typeface="Malgun Gothic"/>
              </a:rPr>
              <a:t>AX_TeamDB  /  ex.ipynb</a:t>
            </a:r>
          </a:p>
        </p:txBody>
      </p:sp>
      <p:sp>
        <p:nvSpPr>
          <p:cNvPr id="4" name="text-ow8nhi-1170-665">
            <a:extLst xmlns:a="http://schemas.openxmlformats.org/drawingml/2006/main">
              <a:ext uri="{FF2B5EF4-FFF2-40B4-BE49-F238E27FC236}">
                <a16:creationId xmlns:a16="http://schemas.microsoft.com/office/drawing/2014/main" id="{DC8A87F0-EC9D-4975-A287-A7774CC65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5" name="text-ow8nhi-64-190">
            <a:extLst xmlns:a="http://schemas.openxmlformats.org/drawingml/2006/main">
              <a:ext uri="{FF2B5EF4-FFF2-40B4-BE49-F238E27FC236}">
                <a16:creationId xmlns:a16="http://schemas.microsoft.com/office/drawing/2014/main" id="{536B7E29-F574-4AB8-BF54-2D1212700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query = supabase.table("orders").select("id,order_status")</a:t>
            </a:r>
          </a:p>
          <a:p xmlns:a="http://schemas.openxmlformats.org/drawingml/2006/main">
            <a:pPr>
              <a:buNone/>
              <a:defRPr sz="1875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same_query = query.eq("id", order_id)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875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print("eq()가 원래 객체를 반환했나요?", query is same_query)</a:t>
            </a:r>
          </a:p>
          <a:p xmlns:a="http://schemas.openxmlformats.org/drawingml/2006/main">
            <a:pPr>
              <a:buNone/>
              <a:defRPr sz="1875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print(same_query.is_("deleted_at", "null").execute().data)</a:t>
            </a:r>
          </a:p>
        </p:txBody>
      </p:sp>
      <p:sp>
        <p:nvSpPr>
          <p:cNvPr id="6" name="text-ow8nhi-64-431">
            <a:extLst xmlns:a="http://schemas.openxmlformats.org/drawingml/2006/main">
              <a:ext uri="{FF2B5EF4-FFF2-40B4-BE49-F238E27FC236}">
                <a16:creationId xmlns:a16="http://schemas.microsoft.com/office/drawing/2014/main" id="{532EE269-C485-43DB-BC3F-1876EB772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05275"/>
            <a:ext cx="3048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defRPr>
            </a:pPr>
            <a:r>
              <a:rPr sz="540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rPr>
              <a:t>True</a:t>
            </a:r>
          </a:p>
        </p:txBody>
      </p:sp>
      <p:sp>
        <p:nvSpPr>
          <p:cNvPr id="7" name="text-ow8nhi-400-437">
            <a:extLst xmlns:a="http://schemas.openxmlformats.org/drawingml/2006/main">
              <a:ext uri="{FF2B5EF4-FFF2-40B4-BE49-F238E27FC236}">
                <a16:creationId xmlns:a16="http://schemas.microsoft.com/office/drawing/2014/main" id="{9DD77B95-825B-4617-8E8A-071BD984B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162425"/>
            <a:ext cx="7620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query와 same_query는 동일 객체</a:t>
            </a:r>
          </a:p>
          <a:p xmlns:a="http://schemas.openxmlformats.org/drawingml/2006/main">
            <a:pPr>
              <a:buNone/>
              <a:defRPr sz="2250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filter() 내부에서 return self</a:t>
            </a:r>
          </a:p>
        </p:txBody>
      </p:sp>
      <p:sp>
        <p:nvSpPr>
          <p:cNvPr id="8" name="text-ow8nhi-64-598">
            <a:extLst xmlns:a="http://schemas.openxmlformats.org/drawingml/2006/main">
              <a:ext uri="{FF2B5EF4-FFF2-40B4-BE49-F238E27FC236}">
                <a16:creationId xmlns:a16="http://schemas.microsoft.com/office/drawing/2014/main" id="{6DBCF7BE-B40E-434F-A564-F67829601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2677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526775"/>
                </a:solidFill>
                <a:latin typeface="Malgun Gothic"/>
                <a:ea typeface="Malgun Gothic"/>
                <a:cs typeface="Malgun Gothic"/>
              </a:rPr>
              <a:t>execute()는 응답 객체를 반환한다</a:t>
            </a:r>
          </a:p>
        </p:txBody>
      </p:sp>
    </p:spTree>
    <p:extLst>
      <p:ext uri="{BB962C8B-B14F-4D97-AF65-F5344CB8AC3E}">
        <p14:creationId xmlns:p14="http://schemas.microsoft.com/office/powerpoint/2010/main" val="175965235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xgq9ur-64-27">
            <a:extLst xmlns:a="http://schemas.openxmlformats.org/drawingml/2006/main">
              <a:ext uri="{FF2B5EF4-FFF2-40B4-BE49-F238E27FC236}">
                <a16:creationId xmlns:a16="http://schemas.microsoft.com/office/drawing/2014/main" id="{5670C0D1-AC54-4DB7-B816-DCD9E0214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rPr>
              <a:t>LIVE DEMO CHECKPOINT</a:t>
            </a:r>
          </a:p>
        </p:txBody>
      </p:sp>
      <p:sp>
        <p:nvSpPr>
          <p:cNvPr id="2" name="text-xgq9ur-64-78">
            <a:extLst xmlns:a="http://schemas.openxmlformats.org/drawingml/2006/main">
              <a:ext uri="{FF2B5EF4-FFF2-40B4-BE49-F238E27FC236}">
                <a16:creationId xmlns:a16="http://schemas.microsoft.com/office/drawing/2014/main" id="{B87D71FD-D900-4DF9-BE34-D11605798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132D3D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32D3D"/>
                </a:solidFill>
                <a:latin typeface="Malgun Gothic"/>
                <a:ea typeface="Malgun Gothic"/>
                <a:cs typeface="Malgun Gothic"/>
              </a:rPr>
              <a:t>설명은 이 순서로 마무리한다</a:t>
            </a:r>
          </a:p>
        </p:txBody>
      </p:sp>
      <p:sp>
        <p:nvSpPr>
          <p:cNvPr id="3" name="text-xgq9ur-64-670">
            <a:extLst xmlns:a="http://schemas.openxmlformats.org/drawingml/2006/main">
              <a:ext uri="{FF2B5EF4-FFF2-40B4-BE49-F238E27FC236}">
                <a16:creationId xmlns:a16="http://schemas.microsoft.com/office/drawing/2014/main" id="{451A881E-C572-42DA-9B24-C14776CD5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2677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775"/>
                </a:solidFill>
                <a:latin typeface="Malgun Gothic"/>
                <a:ea typeface="Malgun Gothic"/>
                <a:cs typeface="Malgun Gothic"/>
              </a:rPr>
              <a:t>AX_TeamDB  /  ex.ipynb</a:t>
            </a:r>
          </a:p>
        </p:txBody>
      </p:sp>
      <p:sp>
        <p:nvSpPr>
          <p:cNvPr id="4" name="text-xgq9ur-1170-665">
            <a:extLst xmlns:a="http://schemas.openxmlformats.org/drawingml/2006/main">
              <a:ext uri="{FF2B5EF4-FFF2-40B4-BE49-F238E27FC236}">
                <a16:creationId xmlns:a16="http://schemas.microsoft.com/office/drawing/2014/main" id="{4C98245C-4B9E-4504-AE46-FEC191913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3412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rPr>
              <a:t>13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276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00500"/>
                <a:gridCol w="6972300"/>
              </a:tblGrid>
              <a:tr h="65532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시연</a:t>
                      </a:r>
                    </a:p>
                  </a:txBody>
                  <a:tcPr marL="91440" marR="91440" marT="45720" marB="45720">
                    <a:solidFill>
                      <a:srgbClr val="126C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확인할 결과</a:t>
                      </a:r>
                    </a:p>
                  </a:txBody>
                  <a:tcPr marL="91440" marR="91440" marT="45720" marB="45720">
                    <a:solidFill>
                      <a:srgbClr val="126C70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로그인 → 주문 → 배송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주문 ID와 상품 ID 연결, ON_DELIVERY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관리자 조회 → 집계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상태별 COUNT / SUM / AVG / MIN / MAX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JOIN → 집합 → 서브쿼리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상품명 연결, 목록 비교, 조건 조회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TCL → 메서드 체이닝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32D3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ROLLBACK 후 상태 유지, 동일 객체 True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-xgq9ur-64-573">
            <a:extLst xmlns:a="http://schemas.openxmlformats.org/drawingml/2006/main">
              <a:ext uri="{FF2B5EF4-FFF2-40B4-BE49-F238E27FC236}">
                <a16:creationId xmlns:a16="http://schemas.microsoft.com/office/drawing/2014/main" id="{83BF6D36-C2D6-48B4-9B1D-0620EDF2A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57825"/>
            <a:ext cx="109728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26C70"/>
                </a:solidFill>
                <a:latin typeface="Malgun Gothic"/>
                <a:ea typeface="Malgun Gothic"/>
                <a:cs typeface="Malgun Gothic"/>
              </a:rPr>
              <a:t>“같은 주문 데이터를 목적에 맞게 연결하고 조회했습니다.”</a:t>
            </a:r>
          </a:p>
        </p:txBody>
      </p:sp>
    </p:spTree>
    <p:extLst>
      <p:ext uri="{BB962C8B-B14F-4D97-AF65-F5344CB8AC3E}">
        <p14:creationId xmlns:p14="http://schemas.microsoft.com/office/powerpoint/2010/main" val="83882618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2026-09-11T03:43:15.4350000Z</dcterms:created>
  <dcterms:modified xsi:type="dcterms:W3CDTF">2026-09-11T03:43:15.4350000Z</dcterms:modified>
</coreProperties>
</file>